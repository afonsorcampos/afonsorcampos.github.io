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58" r:id="rId4"/>
    <p:sldId id="259" r:id="rId5"/>
    <p:sldId id="260" r:id="rId6"/>
    <p:sldId id="261" r:id="rId7"/>
    <p:sldId id="269" r:id="rId8"/>
    <p:sldId id="263" r:id="rId9"/>
    <p:sldId id="265" r:id="rId10"/>
    <p:sldId id="264" r:id="rId11"/>
    <p:sldId id="267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E0EF9-3E5A-44BD-ACF5-F9F3A18650C0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8274A-171F-4644-90B1-CEAB2EA720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135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6A6D7-00F5-5E43-4B57-85436485D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02EBBB-647F-0A58-A586-E10C8A5A8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67BCC-F918-AD3A-A9AD-86B0FD0AE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B4CA2-27ED-4B0A-8417-69101EFA3B33}" type="datetime1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92177-825B-124D-CCD3-8589ACD4A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98B47-5A33-C33B-A7AB-A08BDA3E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04A1-4602-4A0B-BBD0-056EBC64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8188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650C8-6B0D-15BA-4202-9C70A59CC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78496-DDA1-0954-9DCE-FF7026A60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BBD6F-AEE8-0ADB-8641-465096BF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E10C5-55F6-4B04-9AB4-DC1FAF02848C}" type="datetime1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68E85-38BE-E6F4-47CA-269E4416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C7803-4671-373A-63C7-506561A9F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04A1-4602-4A0B-BBD0-056EBC64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9938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4563-3A33-B689-9E34-A539DF345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AB609-1A7F-07D5-B71F-8821C6E40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E878F-2B85-717B-FD00-4EF73CE19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82196-E53F-41D2-B670-2F59907379E6}" type="datetime1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AAA87-FFB8-4697-871D-C23955B9B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F7CC6-1D07-7B38-548F-B49C425CE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04A1-4602-4A0B-BBD0-056EBC64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948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087CD-2472-8CD2-5B15-6DDD5FBAC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55D62-6046-E839-0AC6-D2DAD7032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852C5-4D90-5A5D-4FB9-0257D8697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6E71A-AA42-6E25-3712-E7696FCAD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6962-7CEB-4EE1-8124-04A1B97EB496}" type="datetime1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BA676-E085-E22B-CDA9-58B93C77F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88D11-B53B-C720-22A6-E82685997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04A1-4602-4A0B-BBD0-056EBC64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759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6B244-D88D-AB9C-6BC9-B2BEAAFE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03045-351A-8213-9608-7F08969BF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0ABD8-0268-28F0-1DF3-A6EA0C90E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73A664-4FBE-F727-DB5A-32AF168B15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86A1CB-FAC9-499B-1681-3C38A50DF6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BECAE0-5AE7-AE83-06CA-891D38DA6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C8232-8DCE-402F-91B4-A7A93B5852AA}" type="datetime1">
              <a:rPr lang="en-GB" smtClean="0"/>
              <a:t>07/11/2025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074125-6AE0-DFD6-9947-33BBAEF8D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9AFAD1-3877-04F3-2C19-DD849671B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04A1-4602-4A0B-BBD0-056EBC64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74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5665B-9F13-D77F-BC14-D36DCE8F7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65DAF-748F-4283-D586-53D2ACACF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C5F92-359A-44D1-A53B-C3F726010752}" type="datetime1">
              <a:rPr lang="en-GB" smtClean="0"/>
              <a:t>07/11/2025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C7479A-5CC6-49B1-50C3-770FDBEBD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FFF175-4C5D-8C72-BA2D-1269F5498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04A1-4602-4A0B-BBD0-056EBC64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781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0AA026-5F3D-C9B2-EA75-4C499442C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370CA-400A-42F8-BA66-49D95B35C442}" type="datetime1">
              <a:rPr lang="en-GB" smtClean="0"/>
              <a:t>07/11/2025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C33778-DBB9-B4D9-2FF5-A18118DD0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18BF5-7FBC-E16E-A764-EB7FFC07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04A1-4602-4A0B-BBD0-056EBC64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7706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04AC4-010A-F0CD-8C53-C796CB3E7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78AB9-6FB0-9039-01D7-6E4F64B45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35905-DE5F-2720-7D23-00B5C0A74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6E181-4B6C-F3D3-2053-837A52794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7678-3688-46F2-9C72-BAF4CB1AD7CA}" type="datetime1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61EE8-0CA1-620C-B441-392CDB540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FD1430-B420-9BE3-D8F5-3E49E9D33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04A1-4602-4A0B-BBD0-056EBC64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047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6007F-9FB9-9D24-6A92-ED2440982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51D38C-2176-447A-A312-68286DF2F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ADBFE-44FD-3BE5-EB54-D3958E000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B70C2-BB71-2F1B-CB21-1B4E6C39E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FD31-4D6B-4C8A-A478-594F6487D7A0}" type="datetime1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9374-03C5-E007-51F9-7994083EF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943FD-49CC-0F7F-4F1F-A573FBABD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04A1-4602-4A0B-BBD0-056EBC64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5774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CAD8B-8575-67BF-4CD1-A3309540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20884-49D5-4F40-70E1-0806C6E1F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13E09-F4C6-2A0C-AC1D-1925D635C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F400-C658-4BD0-892D-EBB5AADB8595}" type="datetime1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F15E3-2FFF-7406-4364-16361C445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0B528-7C82-DA6F-BC1B-5334B18F6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04A1-4602-4A0B-BBD0-056EBC64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6393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D416A2-4A28-E36E-DCFA-4AECB7B170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46DDF-773C-592F-CE2C-EE4AE396A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9E945-E5A0-F262-5E12-3AD8B79D7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A918-9F85-4EC4-A049-AA77B2DA8173}" type="datetime1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22064-7023-F7C6-E871-E756B6217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B1B3E-6AFE-F4EA-08DC-EE0B872CF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04A1-4602-4A0B-BBD0-056EBC64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5976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90F3B3-1812-B428-C5E7-D657B5D18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C207E-3018-0031-3EF6-EAC82D09C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8F5AD-8260-296B-8A60-2816DA8A40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9F4D1D-4A93-4893-85CF-24654D789754}" type="datetime1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EA450-0257-9474-7251-5094490092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78104-E7B2-6B9B-0250-D5328D9E9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504A1-4602-4A0B-BBD0-056EBC64DC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1F26A-F52E-1BA1-2446-F8DC86262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Architecture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64AAB-0B11-E9D8-2F27-84F3A1AC1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65FC9B-9FE9-D6C2-F1DA-DF887819ACEB}"/>
              </a:ext>
            </a:extLst>
          </p:cNvPr>
          <p:cNvCxnSpPr>
            <a:cxnSpLocks/>
          </p:cNvCxnSpPr>
          <p:nvPr/>
        </p:nvCxnSpPr>
        <p:spPr>
          <a:xfrm>
            <a:off x="838199" y="4225588"/>
            <a:ext cx="10506455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FF94479-BF64-BAEC-8B44-E1CF9E4FD20F}"/>
              </a:ext>
            </a:extLst>
          </p:cNvPr>
          <p:cNvSpPr/>
          <p:nvPr/>
        </p:nvSpPr>
        <p:spPr>
          <a:xfrm>
            <a:off x="7397875" y="4216444"/>
            <a:ext cx="3946779" cy="1645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266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loud 7">
            <a:extLst>
              <a:ext uri="{FF2B5EF4-FFF2-40B4-BE49-F238E27FC236}">
                <a16:creationId xmlns:a16="http://schemas.microsoft.com/office/drawing/2014/main" id="{00107D3A-7301-1061-CD48-552086B44ED4}"/>
              </a:ext>
            </a:extLst>
          </p:cNvPr>
          <p:cNvSpPr/>
          <p:nvPr/>
        </p:nvSpPr>
        <p:spPr>
          <a:xfrm>
            <a:off x="1613807" y="381000"/>
            <a:ext cx="8964386" cy="4343400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E27218F-29EC-6100-879C-46670DF93BE4}"/>
              </a:ext>
            </a:extLst>
          </p:cNvPr>
          <p:cNvSpPr/>
          <p:nvPr/>
        </p:nvSpPr>
        <p:spPr>
          <a:xfrm>
            <a:off x="2874174" y="1703615"/>
            <a:ext cx="1719942" cy="158931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AF9B02D-5E66-75B4-842D-2C302A35F831}"/>
              </a:ext>
            </a:extLst>
          </p:cNvPr>
          <p:cNvSpPr/>
          <p:nvPr/>
        </p:nvSpPr>
        <p:spPr>
          <a:xfrm>
            <a:off x="7732259" y="1703616"/>
            <a:ext cx="1719942" cy="158931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29D2CE2-CF82-0A09-F92E-6D4FD5C0439A}"/>
              </a:ext>
            </a:extLst>
          </p:cNvPr>
          <p:cNvSpPr/>
          <p:nvPr/>
        </p:nvSpPr>
        <p:spPr>
          <a:xfrm>
            <a:off x="5301685" y="1703616"/>
            <a:ext cx="1719942" cy="158931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FE4EBAA-DA3B-0CC0-ED73-A8D03BB34AC7}"/>
              </a:ext>
            </a:extLst>
          </p:cNvPr>
          <p:cNvSpPr/>
          <p:nvPr/>
        </p:nvSpPr>
        <p:spPr>
          <a:xfrm>
            <a:off x="3946417" y="5001984"/>
            <a:ext cx="1719942" cy="158931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52E0A3A-BB9B-1680-C5A6-CDA7B4BA817B}"/>
              </a:ext>
            </a:extLst>
          </p:cNvPr>
          <p:cNvSpPr/>
          <p:nvPr/>
        </p:nvSpPr>
        <p:spPr>
          <a:xfrm>
            <a:off x="6660017" y="5001984"/>
            <a:ext cx="1719942" cy="158931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Graphic 17" descr="Database with solid fill">
            <a:extLst>
              <a:ext uri="{FF2B5EF4-FFF2-40B4-BE49-F238E27FC236}">
                <a16:creationId xmlns:a16="http://schemas.microsoft.com/office/drawing/2014/main" id="{DDC3B4F1-12A7-1BDE-A15B-4412A693E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24717" y="1791046"/>
            <a:ext cx="1218855" cy="1218855"/>
          </a:xfrm>
          <a:prstGeom prst="rect">
            <a:avLst/>
          </a:prstGeom>
        </p:spPr>
      </p:pic>
      <p:pic>
        <p:nvPicPr>
          <p:cNvPr id="20" name="Graphic 19" descr="Television with solid fill">
            <a:extLst>
              <a:ext uri="{FF2B5EF4-FFF2-40B4-BE49-F238E27FC236}">
                <a16:creationId xmlns:a16="http://schemas.microsoft.com/office/drawing/2014/main" id="{A9BDC140-754A-E6F0-ACBB-212B789AED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14721" y="1722964"/>
            <a:ext cx="1355017" cy="1355017"/>
          </a:xfrm>
          <a:prstGeom prst="rect">
            <a:avLst/>
          </a:prstGeom>
        </p:spPr>
      </p:pic>
      <p:pic>
        <p:nvPicPr>
          <p:cNvPr id="22" name="Graphic 21" descr="Man with solid fill">
            <a:extLst>
              <a:ext uri="{FF2B5EF4-FFF2-40B4-BE49-F238E27FC236}">
                <a16:creationId xmlns:a16="http://schemas.microsoft.com/office/drawing/2014/main" id="{542005B4-57C4-20C1-C110-A7CCA5B10D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43216" y="5117138"/>
            <a:ext cx="1155756" cy="1155756"/>
          </a:xfrm>
          <a:prstGeom prst="rect">
            <a:avLst/>
          </a:prstGeom>
        </p:spPr>
      </p:pic>
      <p:pic>
        <p:nvPicPr>
          <p:cNvPr id="24" name="Graphic 23" descr="Satellite dish with solid fill">
            <a:extLst>
              <a:ext uri="{FF2B5EF4-FFF2-40B4-BE49-F238E27FC236}">
                <a16:creationId xmlns:a16="http://schemas.microsoft.com/office/drawing/2014/main" id="{242E79AD-0660-5EAA-AB04-2633CEFFB0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99508" y="5059135"/>
            <a:ext cx="1213759" cy="1213759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6CB4F893-7E68-6849-9B60-23569B4B77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06485" y="1834414"/>
            <a:ext cx="1110341" cy="111034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4B2E94D-91D5-B626-DFC1-19FD6CC8C6B2}"/>
              </a:ext>
            </a:extLst>
          </p:cNvPr>
          <p:cNvSpPr txBox="1"/>
          <p:nvPr/>
        </p:nvSpPr>
        <p:spPr>
          <a:xfrm>
            <a:off x="2951500" y="2882386"/>
            <a:ext cx="156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GS Database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5705BD-C2F9-5AE9-08EC-21DDD5A74193}"/>
              </a:ext>
            </a:extLst>
          </p:cNvPr>
          <p:cNvSpPr txBox="1"/>
          <p:nvPr/>
        </p:nvSpPr>
        <p:spPr>
          <a:xfrm>
            <a:off x="5377929" y="2904158"/>
            <a:ext cx="156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GS API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57591D-E029-838B-1392-251440F2C38C}"/>
              </a:ext>
            </a:extLst>
          </p:cNvPr>
          <p:cNvSpPr txBox="1"/>
          <p:nvPr/>
        </p:nvSpPr>
        <p:spPr>
          <a:xfrm>
            <a:off x="7614778" y="2893315"/>
            <a:ext cx="1954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GS Platform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01A417-C4D8-2791-1C25-AFF9BF19CFC7}"/>
              </a:ext>
            </a:extLst>
          </p:cNvPr>
          <p:cNvSpPr txBox="1"/>
          <p:nvPr/>
        </p:nvSpPr>
        <p:spPr>
          <a:xfrm>
            <a:off x="6737344" y="6242157"/>
            <a:ext cx="156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Clients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717B03-0E19-B2AF-61D7-25A8FA2CEEAD}"/>
              </a:ext>
            </a:extLst>
          </p:cNvPr>
          <p:cNvSpPr txBox="1"/>
          <p:nvPr/>
        </p:nvSpPr>
        <p:spPr>
          <a:xfrm>
            <a:off x="4023743" y="6201049"/>
            <a:ext cx="156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GS Node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4FEEF2C0-8115-9CC7-77D6-B55123185235}"/>
              </a:ext>
            </a:extLst>
          </p:cNvPr>
          <p:cNvCxnSpPr>
            <a:cxnSpLocks/>
            <a:endCxn id="13" idx="0"/>
          </p:cNvCxnSpPr>
          <p:nvPr/>
        </p:nvCxnSpPr>
        <p:spPr>
          <a:xfrm rot="5400000">
            <a:off x="4437436" y="3642441"/>
            <a:ext cx="1728495" cy="990590"/>
          </a:xfrm>
          <a:prstGeom prst="bentConnector3">
            <a:avLst/>
          </a:prstGeom>
          <a:ln w="76200" cap="flat" cmpd="sng" algn="ctr">
            <a:solidFill>
              <a:schemeClr val="tx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32F68EE8-0F1C-FC5E-2C2E-B5BE692AA838}"/>
              </a:ext>
            </a:extLst>
          </p:cNvPr>
          <p:cNvCxnSpPr>
            <a:cxnSpLocks/>
            <a:stCxn id="14" idx="1"/>
            <a:endCxn id="12" idx="2"/>
          </p:cNvCxnSpPr>
          <p:nvPr/>
        </p:nvCxnSpPr>
        <p:spPr>
          <a:xfrm rot="10800000">
            <a:off x="6161657" y="3292932"/>
            <a:ext cx="498361" cy="2503711"/>
          </a:xfrm>
          <a:prstGeom prst="bentConnector2">
            <a:avLst/>
          </a:prstGeom>
          <a:ln w="762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521D03CC-7035-8DC2-0F4C-8D106215206B}"/>
              </a:ext>
            </a:extLst>
          </p:cNvPr>
          <p:cNvCxnSpPr>
            <a:cxnSpLocks/>
          </p:cNvCxnSpPr>
          <p:nvPr/>
        </p:nvCxnSpPr>
        <p:spPr>
          <a:xfrm rot="16200000" flipV="1">
            <a:off x="6012228" y="3772163"/>
            <a:ext cx="1779645" cy="679997"/>
          </a:xfrm>
          <a:prstGeom prst="bentConnector3">
            <a:avLst>
              <a:gd name="adj1" fmla="val 50000"/>
            </a:avLst>
          </a:prstGeom>
          <a:ln w="762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FCECA9EA-BDF6-ACBD-256E-6523EC77A4C5}"/>
              </a:ext>
            </a:extLst>
          </p:cNvPr>
          <p:cNvCxnSpPr>
            <a:cxnSpLocks/>
            <a:endCxn id="30" idx="2"/>
          </p:cNvCxnSpPr>
          <p:nvPr/>
        </p:nvCxnSpPr>
        <p:spPr>
          <a:xfrm rot="5400000" flipH="1" flipV="1">
            <a:off x="7326364" y="3736119"/>
            <a:ext cx="1739337" cy="792394"/>
          </a:xfrm>
          <a:prstGeom prst="bentConnector3">
            <a:avLst>
              <a:gd name="adj1" fmla="val 51051"/>
            </a:avLst>
          </a:prstGeom>
          <a:ln w="762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B1B2C27-DB0C-B103-0797-24E71DDAD9EA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7021627" y="2498274"/>
            <a:ext cx="710632" cy="0"/>
          </a:xfrm>
          <a:prstGeom prst="straightConnector1">
            <a:avLst/>
          </a:prstGeom>
          <a:ln w="762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ED10285-D9C0-395C-C05B-36DC84AA7B86}"/>
              </a:ext>
            </a:extLst>
          </p:cNvPr>
          <p:cNvCxnSpPr>
            <a:cxnSpLocks/>
            <a:stCxn id="12" idx="1"/>
            <a:endCxn id="10" idx="3"/>
          </p:cNvCxnSpPr>
          <p:nvPr/>
        </p:nvCxnSpPr>
        <p:spPr>
          <a:xfrm flipH="1" flipV="1">
            <a:off x="4594116" y="2498273"/>
            <a:ext cx="707569" cy="1"/>
          </a:xfrm>
          <a:prstGeom prst="straightConnector1">
            <a:avLst/>
          </a:prstGeom>
          <a:ln w="7620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25" name="TextBox 1024">
            <a:extLst>
              <a:ext uri="{FF2B5EF4-FFF2-40B4-BE49-F238E27FC236}">
                <a16:creationId xmlns:a16="http://schemas.microsoft.com/office/drawing/2014/main" id="{59A96220-A4D4-7F72-D601-810C29FC9627}"/>
              </a:ext>
            </a:extLst>
          </p:cNvPr>
          <p:cNvSpPr txBox="1"/>
          <p:nvPr/>
        </p:nvSpPr>
        <p:spPr>
          <a:xfrm>
            <a:off x="3477239" y="865836"/>
            <a:ext cx="5237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 err="1">
                <a:solidFill>
                  <a:schemeClr val="accent1">
                    <a:lumMod val="50000"/>
                  </a:schemeClr>
                </a:solidFill>
              </a:rPr>
              <a:t>LusoSpace</a:t>
            </a:r>
            <a:r>
              <a:rPr lang="en-GB" sz="4000" b="1" dirty="0">
                <a:solidFill>
                  <a:schemeClr val="accent1">
                    <a:lumMod val="50000"/>
                  </a:schemeClr>
                </a:solidFill>
              </a:rPr>
              <a:t> GS Server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0BF570-0046-7B88-6FAC-97B92C1F37CD}"/>
              </a:ext>
            </a:extLst>
          </p:cNvPr>
          <p:cNvSpPr txBox="1"/>
          <p:nvPr/>
        </p:nvSpPr>
        <p:spPr>
          <a:xfrm>
            <a:off x="6737344" y="2078465"/>
            <a:ext cx="1273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HTTP/S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794E8C-DC08-0AEA-E1B9-0E8C6814882B}"/>
              </a:ext>
            </a:extLst>
          </p:cNvPr>
          <p:cNvSpPr txBox="1"/>
          <p:nvPr/>
        </p:nvSpPr>
        <p:spPr>
          <a:xfrm>
            <a:off x="7552761" y="4186276"/>
            <a:ext cx="1273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HTTP/S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0AD65-6263-0149-0F8B-1CB997D2D87F}"/>
              </a:ext>
            </a:extLst>
          </p:cNvPr>
          <p:cNvSpPr txBox="1"/>
          <p:nvPr/>
        </p:nvSpPr>
        <p:spPr>
          <a:xfrm>
            <a:off x="6204121" y="4186275"/>
            <a:ext cx="1273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HTTP/S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714A6E-0F1F-36DD-DEB4-BB28811D4E7A}"/>
              </a:ext>
            </a:extLst>
          </p:cNvPr>
          <p:cNvSpPr txBox="1"/>
          <p:nvPr/>
        </p:nvSpPr>
        <p:spPr>
          <a:xfrm>
            <a:off x="5696466" y="5916346"/>
            <a:ext cx="1273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HTTP/S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F98123-2084-0D5F-57F2-70A61D6973CE}"/>
              </a:ext>
            </a:extLst>
          </p:cNvPr>
          <p:cNvSpPr txBox="1"/>
          <p:nvPr/>
        </p:nvSpPr>
        <p:spPr>
          <a:xfrm>
            <a:off x="4620406" y="3810846"/>
            <a:ext cx="1273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TCP/IP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6ACCBA-CAF3-44B6-72D9-31217DEE08BF}"/>
              </a:ext>
            </a:extLst>
          </p:cNvPr>
          <p:cNvSpPr txBox="1"/>
          <p:nvPr/>
        </p:nvSpPr>
        <p:spPr>
          <a:xfrm>
            <a:off x="19901" y="37355"/>
            <a:ext cx="692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* Beginning of an arrow indicates who initiates the connection.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EB8906-1E51-C781-4B39-D2C842513670}"/>
              </a:ext>
            </a:extLst>
          </p:cNvPr>
          <p:cNvSpPr txBox="1"/>
          <p:nvPr/>
        </p:nvSpPr>
        <p:spPr>
          <a:xfrm>
            <a:off x="4311198" y="2039737"/>
            <a:ext cx="12734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ORM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7733AA82-26E8-B4E0-D206-1C87C0541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04A1-4602-4A0B-BBD0-056EBC64DCC8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1396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Database with solid fill">
            <a:extLst>
              <a:ext uri="{FF2B5EF4-FFF2-40B4-BE49-F238E27FC236}">
                <a16:creationId xmlns:a16="http://schemas.microsoft.com/office/drawing/2014/main" id="{B5452D9F-31D3-512A-8571-125D5B948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06544" y="-192454"/>
            <a:ext cx="3766284" cy="37662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362A1F-AFCE-BF0A-89BA-90A5CBA8E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GS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6ECA8-5AD5-2D0F-C723-7D8CE0CBD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Stores data in a structured way.</a:t>
            </a:r>
          </a:p>
          <a:p>
            <a:r>
              <a:rPr lang="en-GB" dirty="0"/>
              <a:t>Provides a Querying Language for fast access to data.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Suggested Technology: </a:t>
            </a:r>
            <a:r>
              <a:rPr lang="en-GB" dirty="0" err="1"/>
              <a:t>PostgresSQL</a:t>
            </a:r>
            <a:r>
              <a:rPr lang="en-GB" dirty="0"/>
              <a:t> + </a:t>
            </a:r>
            <a:r>
              <a:rPr lang="en-GB" dirty="0" err="1"/>
              <a:t>PostGIS</a:t>
            </a:r>
            <a:r>
              <a:rPr lang="en-GB" dirty="0"/>
              <a:t> (for spatial data support)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F4ADE-D654-F448-9F4C-BC0C7A3A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04A1-4602-4A0B-BBD0-056EBC64DCC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238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801A7-F2DB-36C5-C054-8AA35B807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GS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64C5E-6D05-FEAF-1200-85C23C07D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797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Brain of operations.</a:t>
            </a:r>
          </a:p>
          <a:p>
            <a:r>
              <a:rPr lang="en-GB" dirty="0"/>
              <a:t>Responsible for:</a:t>
            </a:r>
          </a:p>
          <a:p>
            <a:pPr lvl="1"/>
            <a:r>
              <a:rPr lang="en-GB" dirty="0"/>
              <a:t>Receiving and processing downlink payload data;</a:t>
            </a:r>
          </a:p>
          <a:p>
            <a:pPr lvl="1"/>
            <a:r>
              <a:rPr lang="en-GB" dirty="0"/>
              <a:t>Constructing and sending uplink data (VDES);</a:t>
            </a:r>
          </a:p>
          <a:p>
            <a:pPr lvl="1"/>
            <a:r>
              <a:rPr lang="en-GB" dirty="0"/>
              <a:t>Managing and ensuring fast database access (data insertion and retrieval);</a:t>
            </a:r>
          </a:p>
          <a:p>
            <a:pPr lvl="1"/>
            <a:r>
              <a:rPr lang="en-GB" dirty="0"/>
              <a:t>Exposing structured data to other components through HTTP/S (REST endpoints);</a:t>
            </a:r>
          </a:p>
          <a:p>
            <a:pPr lvl="1"/>
            <a:r>
              <a:rPr lang="en-GB" dirty="0"/>
              <a:t>Data streaming;</a:t>
            </a:r>
          </a:p>
          <a:p>
            <a:pPr lvl="1"/>
            <a:r>
              <a:rPr lang="en-GB" dirty="0"/>
              <a:t>Defines and enforces security protocols, authentication, data access management.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3D2555-82D9-C630-23AF-6215A59A62B2}"/>
              </a:ext>
            </a:extLst>
          </p:cNvPr>
          <p:cNvSpPr txBox="1">
            <a:spLocks/>
          </p:cNvSpPr>
          <p:nvPr/>
        </p:nvSpPr>
        <p:spPr>
          <a:xfrm>
            <a:off x="838200" y="5943600"/>
            <a:ext cx="10515600" cy="493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Suggested Technology: </a:t>
            </a:r>
            <a:r>
              <a:rPr lang="en-GB" dirty="0" err="1"/>
              <a:t>FastAPI</a:t>
            </a:r>
            <a:r>
              <a:rPr lang="en-GB" dirty="0"/>
              <a:t> (Python)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5C28B6F-3FEA-77FA-0CDA-D2DB6D1FB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2570" y="212784"/>
            <a:ext cx="2731972" cy="273197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D4C1E-AD90-2AAB-1823-86310D67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04A1-4602-4A0B-BBD0-056EBC64DCC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722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6BD08-641E-3991-9B05-DA16B1BE1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GS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BE53A-3E39-AAF2-013B-AD63860FA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GB" dirty="0"/>
              <a:t>Interface for the client:</a:t>
            </a:r>
          </a:p>
          <a:p>
            <a:pPr lvl="1"/>
            <a:r>
              <a:rPr lang="en-GB" dirty="0"/>
              <a:t>Historical data download;</a:t>
            </a:r>
          </a:p>
          <a:p>
            <a:pPr lvl="1"/>
            <a:r>
              <a:rPr lang="en-GB" dirty="0"/>
              <a:t>AIS data analytics.</a:t>
            </a:r>
          </a:p>
          <a:p>
            <a:r>
              <a:rPr lang="en-GB" dirty="0"/>
              <a:t>Interface for management:</a:t>
            </a:r>
          </a:p>
          <a:p>
            <a:pPr lvl="1"/>
            <a:r>
              <a:rPr lang="en-GB" dirty="0"/>
              <a:t>System usage analytics;</a:t>
            </a:r>
          </a:p>
          <a:p>
            <a:pPr lvl="1"/>
            <a:r>
              <a:rPr lang="en-GB" dirty="0"/>
              <a:t>Server availability analytics;</a:t>
            </a:r>
          </a:p>
          <a:p>
            <a:pPr lvl="1"/>
            <a:r>
              <a:rPr lang="en-GB" dirty="0"/>
              <a:t>Data emission times analytics;</a:t>
            </a:r>
          </a:p>
          <a:p>
            <a:pPr lvl="1"/>
            <a:r>
              <a:rPr lang="en-GB" dirty="0"/>
              <a:t>More…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Suggested Technology: ReactJS (JavaScript)</a:t>
            </a:r>
          </a:p>
        </p:txBody>
      </p:sp>
      <p:pic>
        <p:nvPicPr>
          <p:cNvPr id="4" name="Graphic 3" descr="Television with solid fill">
            <a:extLst>
              <a:ext uri="{FF2B5EF4-FFF2-40B4-BE49-F238E27FC236}">
                <a16:creationId xmlns:a16="http://schemas.microsoft.com/office/drawing/2014/main" id="{8C0931C8-DB20-75D9-185C-2F64BCBDA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7721" y="-160264"/>
            <a:ext cx="2903465" cy="290346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0ECFC-417D-B5AB-E636-FA95D039C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04A1-4602-4A0B-BBD0-056EBC64DCC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57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C592D-21EE-05C0-4236-02B480928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Connections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432EE-CF4C-F823-C56A-FC65FCB26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API &lt;-&gt; </a:t>
            </a:r>
            <a:r>
              <a:rPr lang="en-GB" b="1" dirty="0" err="1"/>
              <a:t>GSNode</a:t>
            </a:r>
            <a:r>
              <a:rPr lang="en-GB" dirty="0"/>
              <a:t>: TCP communication;</a:t>
            </a:r>
          </a:p>
          <a:p>
            <a:r>
              <a:rPr lang="en-GB" b="1" dirty="0"/>
              <a:t>Client to Platform</a:t>
            </a:r>
            <a:r>
              <a:rPr lang="en-GB" dirty="0"/>
              <a:t>: HTTP connection (DNS address):</a:t>
            </a:r>
          </a:p>
          <a:p>
            <a:pPr lvl="1"/>
            <a:r>
              <a:rPr lang="en-GB" dirty="0"/>
              <a:t>Log-in page for authentication, restricted pages (per-client?);</a:t>
            </a:r>
          </a:p>
          <a:p>
            <a:r>
              <a:rPr lang="en-GB" b="1" dirty="0"/>
              <a:t>Client to API (endpoints)</a:t>
            </a:r>
            <a:r>
              <a:rPr lang="en-GB" dirty="0"/>
              <a:t>: HTTP connection :</a:t>
            </a:r>
          </a:p>
          <a:p>
            <a:pPr lvl="1"/>
            <a:r>
              <a:rPr lang="en-GB" dirty="0"/>
              <a:t>Security ensured by API, endpoint access management (per-client?);</a:t>
            </a:r>
          </a:p>
          <a:p>
            <a:r>
              <a:rPr lang="en-GB" b="1" dirty="0"/>
              <a:t>Client to API (data stream)</a:t>
            </a:r>
            <a:r>
              <a:rPr lang="en-GB" dirty="0"/>
              <a:t>:</a:t>
            </a:r>
            <a:r>
              <a:rPr lang="en-GB" b="1" dirty="0"/>
              <a:t> </a:t>
            </a:r>
            <a:r>
              <a:rPr lang="en-GB" dirty="0"/>
              <a:t>HTTP/FTP connection (TBD).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Graphic 4" descr="Network outline">
            <a:extLst>
              <a:ext uri="{FF2B5EF4-FFF2-40B4-BE49-F238E27FC236}">
                <a16:creationId xmlns:a16="http://schemas.microsoft.com/office/drawing/2014/main" id="{88D36431-CF45-55E8-FFF1-D5BCA3C46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6840" y="-209582"/>
            <a:ext cx="3252216" cy="325221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C9ADA-0B2B-9889-84AB-3A392D21E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04A1-4602-4A0B-BBD0-056EBC64DCC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7692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1F26A-F52E-1BA1-2446-F8DC86262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Hosting Options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64AAB-0B11-E9D8-2F27-84F3A1AC1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65FC9B-9FE9-D6C2-F1DA-DF887819ACEB}"/>
              </a:ext>
            </a:extLst>
          </p:cNvPr>
          <p:cNvCxnSpPr>
            <a:cxnSpLocks/>
          </p:cNvCxnSpPr>
          <p:nvPr/>
        </p:nvCxnSpPr>
        <p:spPr>
          <a:xfrm>
            <a:off x="838199" y="4225588"/>
            <a:ext cx="10506455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FF94479-BF64-BAEC-8B44-E1CF9E4FD20F}"/>
              </a:ext>
            </a:extLst>
          </p:cNvPr>
          <p:cNvSpPr/>
          <p:nvPr/>
        </p:nvSpPr>
        <p:spPr>
          <a:xfrm>
            <a:off x="7397875" y="4216444"/>
            <a:ext cx="3946779" cy="164591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4029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loud 4">
            <a:extLst>
              <a:ext uri="{FF2B5EF4-FFF2-40B4-BE49-F238E27FC236}">
                <a16:creationId xmlns:a16="http://schemas.microsoft.com/office/drawing/2014/main" id="{DCA91B2C-E669-20F6-3009-7DB28ED05BC4}"/>
              </a:ext>
            </a:extLst>
          </p:cNvPr>
          <p:cNvSpPr/>
          <p:nvPr/>
        </p:nvSpPr>
        <p:spPr>
          <a:xfrm>
            <a:off x="8817429" y="134956"/>
            <a:ext cx="3156858" cy="1885115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DD8B9-4C01-3127-D375-6729F1C9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LusoSpace</a:t>
            </a:r>
            <a:r>
              <a:rPr lang="en-GB" dirty="0"/>
              <a:t> GS Server – 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668BF-C052-F6C9-FC2D-4D7C4E025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Amazon EC2 (for API &amp; DB), t3.medium (2vCPU, 4GB RAM, 80GB)</a:t>
            </a:r>
          </a:p>
          <a:p>
            <a:r>
              <a:rPr lang="en-GB" dirty="0"/>
              <a:t>Amazon S3 (for Platform), 2GB storage</a:t>
            </a:r>
          </a:p>
          <a:p>
            <a:pPr marL="0" indent="0">
              <a:buNone/>
            </a:pPr>
            <a:r>
              <a:rPr lang="en-GB" dirty="0"/>
              <a:t>Cost: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FA7117-CE91-F6CC-5987-6B513393F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798509"/>
              </p:ext>
            </p:extLst>
          </p:nvPr>
        </p:nvGraphicFramePr>
        <p:xfrm>
          <a:off x="838200" y="3274758"/>
          <a:ext cx="10515600" cy="3037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0136256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132015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52577699"/>
                    </a:ext>
                  </a:extLst>
                </a:gridCol>
              </a:tblGrid>
              <a:tr h="75928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Payment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Monthly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Yearly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78649"/>
                  </a:ext>
                </a:extLst>
              </a:tr>
              <a:tr h="75928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On Demand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Est. 40 USD (35 EUR)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Est. 420 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1526688"/>
                  </a:ext>
                </a:extLst>
              </a:tr>
              <a:tr h="75928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 Year Reserved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Est. 28 USD (24 EUR)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Est. 288 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627194"/>
                  </a:ext>
                </a:extLst>
              </a:tr>
              <a:tr h="75928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 Year Reserved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Est. 21 USD (18 EUR)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Est. 216 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760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47B1F-DAB1-E0AA-F70D-7CE18BB53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04A1-4602-4A0B-BBD0-056EBC64DCC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611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DD8B9-4C01-3127-D375-6729F1C9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LusoSpace</a:t>
            </a:r>
            <a:r>
              <a:rPr lang="en-GB" dirty="0"/>
              <a:t> GS Server – Azure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668BF-C052-F6C9-FC2D-4D7C4E025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Azure VM B2s (for API &amp; DB) (2vCPU, 4GB RAM)</a:t>
            </a:r>
          </a:p>
          <a:p>
            <a:r>
              <a:rPr lang="en-GB" dirty="0"/>
              <a:t>Azure Managed Disk E10 (128GB SSD)</a:t>
            </a:r>
          </a:p>
          <a:p>
            <a:r>
              <a:rPr lang="en-GB" dirty="0"/>
              <a:t>Azure Static Web App (for Platform) (Standard, 2GB storage)</a:t>
            </a:r>
            <a:endParaRPr lang="en-GB" sz="100" dirty="0"/>
          </a:p>
          <a:p>
            <a:pPr marL="0" indent="0">
              <a:buNone/>
            </a:pPr>
            <a:r>
              <a:rPr lang="en-GB" dirty="0"/>
              <a:t>Cost: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FA7117-CE91-F6CC-5987-6B513393F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024084"/>
              </p:ext>
            </p:extLst>
          </p:nvPr>
        </p:nvGraphicFramePr>
        <p:xfrm>
          <a:off x="838200" y="3762060"/>
          <a:ext cx="10515600" cy="2594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0136256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132015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52577699"/>
                    </a:ext>
                  </a:extLst>
                </a:gridCol>
              </a:tblGrid>
              <a:tr h="43238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Payment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Monthly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Yearly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78649"/>
                  </a:ext>
                </a:extLst>
              </a:tr>
              <a:tr h="43238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On Demand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Est. 50 USD (43 EUR)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Est. 516 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1526688"/>
                  </a:ext>
                </a:extLst>
              </a:tr>
              <a:tr h="43238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 Year Reserved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Est. 35 USD (30 EUR)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Est. 420 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627194"/>
                  </a:ext>
                </a:extLst>
              </a:tr>
              <a:tr h="43238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 Year Reserved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Est. 28 USD (24 EUR)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Est. 288 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760"/>
                  </a:ext>
                </a:extLst>
              </a:tr>
              <a:tr h="43238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 Year Savings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Est. 41 USD (36 EUR)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Est. 492 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3338820"/>
                  </a:ext>
                </a:extLst>
              </a:tr>
              <a:tr h="43238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 Year Savings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Est. 34 USD (30 EUR)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Est. 420 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8967470"/>
                  </a:ext>
                </a:extLst>
              </a:tr>
            </a:tbl>
          </a:graphicData>
        </a:graphic>
      </p:graphicFrame>
      <p:sp>
        <p:nvSpPr>
          <p:cNvPr id="5" name="Cloud 4">
            <a:extLst>
              <a:ext uri="{FF2B5EF4-FFF2-40B4-BE49-F238E27FC236}">
                <a16:creationId xmlns:a16="http://schemas.microsoft.com/office/drawing/2014/main" id="{7F6342B0-1C89-86E2-836C-596A894B772B}"/>
              </a:ext>
            </a:extLst>
          </p:cNvPr>
          <p:cNvSpPr/>
          <p:nvPr/>
        </p:nvSpPr>
        <p:spPr>
          <a:xfrm>
            <a:off x="8817429" y="134956"/>
            <a:ext cx="3156858" cy="1885115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43D5C-E721-75C8-27EA-F97882667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04A1-4602-4A0B-BBD0-056EBC64DCC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092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loud 5">
            <a:extLst>
              <a:ext uri="{FF2B5EF4-FFF2-40B4-BE49-F238E27FC236}">
                <a16:creationId xmlns:a16="http://schemas.microsoft.com/office/drawing/2014/main" id="{AE035AF9-B9F0-FBBB-B85C-B04BB7949986}"/>
              </a:ext>
            </a:extLst>
          </p:cNvPr>
          <p:cNvSpPr/>
          <p:nvPr/>
        </p:nvSpPr>
        <p:spPr>
          <a:xfrm>
            <a:off x="8817429" y="134956"/>
            <a:ext cx="3156858" cy="1885115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DD8B9-4C01-3127-D375-6729F1C9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LusoSpace</a:t>
            </a:r>
            <a:r>
              <a:rPr lang="en-GB" dirty="0"/>
              <a:t> GS Server – Digital Ocean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FA7117-CE91-F6CC-5987-6B513393F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553483"/>
              </p:ext>
            </p:extLst>
          </p:nvPr>
        </p:nvGraphicFramePr>
        <p:xfrm>
          <a:off x="838197" y="2250240"/>
          <a:ext cx="10515603" cy="4069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101362566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29048787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1887098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77329561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29691079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3132015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52577699"/>
                    </a:ext>
                  </a:extLst>
                </a:gridCol>
              </a:tblGrid>
              <a:tr h="135651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# 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Managed DB?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Monthly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Yearly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78649"/>
                  </a:ext>
                </a:extLst>
              </a:tr>
              <a:tr h="135651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Digital Ocean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80GB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Est. 24 USD (21 EUR)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Est. 252 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1526688"/>
                  </a:ext>
                </a:extLst>
              </a:tr>
              <a:tr h="1356512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Digital Ocean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80GB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Est. 39 USD (34 EUR)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Est. 408 EUR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62719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D30FA-1697-7229-7DD8-A9CD849FE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04A1-4602-4A0B-BBD0-056EBC64DCC8}" type="slidenum">
              <a:rPr lang="en-GB" smtClean="0"/>
              <a:t>10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7F6D12C-492B-F244-CFEC-FFCBC9FCE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Cost:</a:t>
            </a:r>
          </a:p>
        </p:txBody>
      </p:sp>
    </p:spTree>
    <p:extLst>
      <p:ext uri="{BB962C8B-B14F-4D97-AF65-F5344CB8AC3E}">
        <p14:creationId xmlns:p14="http://schemas.microsoft.com/office/powerpoint/2010/main" val="986770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loud 5">
            <a:extLst>
              <a:ext uri="{FF2B5EF4-FFF2-40B4-BE49-F238E27FC236}">
                <a16:creationId xmlns:a16="http://schemas.microsoft.com/office/drawing/2014/main" id="{AE035AF9-B9F0-FBBB-B85C-B04BB7949986}"/>
              </a:ext>
            </a:extLst>
          </p:cNvPr>
          <p:cNvSpPr/>
          <p:nvPr/>
        </p:nvSpPr>
        <p:spPr>
          <a:xfrm>
            <a:off x="8817429" y="134956"/>
            <a:ext cx="3156858" cy="1885115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DD8B9-4C01-3127-D375-6729F1C9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LusoSpace</a:t>
            </a:r>
            <a:r>
              <a:rPr lang="en-GB" dirty="0"/>
              <a:t> GS Server – In-House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64002-6889-D031-F32E-4D74B9177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Hosting the GS system in </a:t>
            </a:r>
            <a:r>
              <a:rPr lang="en-GB" dirty="0" err="1"/>
              <a:t>LusoSpace’s</a:t>
            </a:r>
            <a:r>
              <a:rPr lang="en-GB" dirty="0"/>
              <a:t> server rather than in a third-party service (TPS).</a:t>
            </a:r>
          </a:p>
          <a:p>
            <a:r>
              <a:rPr lang="en-GB" dirty="0"/>
              <a:t>Considerations:</a:t>
            </a:r>
          </a:p>
          <a:p>
            <a:pPr lvl="1">
              <a:buFont typeface="Aptos" panose="020B0004020202020204" pitchFamily="34" charset="0"/>
              <a:buChar char="+"/>
            </a:pPr>
            <a:r>
              <a:rPr lang="en-GB" dirty="0"/>
              <a:t>Lower upfront cost (no subscription);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Server located in Lisbon, Portugal (vs. Central Europe/NA options in TPS);</a:t>
            </a:r>
          </a:p>
          <a:p>
            <a:pPr lvl="1">
              <a:buFont typeface="Aptos" panose="020B0004020202020204" pitchFamily="34" charset="0"/>
              <a:buChar char="-"/>
            </a:pPr>
            <a:r>
              <a:rPr lang="en-GB" dirty="0"/>
              <a:t>System will be dependent on LS server availability;</a:t>
            </a:r>
          </a:p>
          <a:p>
            <a:pPr lvl="1">
              <a:buFont typeface="Aptos" panose="020B0004020202020204" pitchFamily="34" charset="0"/>
              <a:buChar char="-"/>
            </a:pPr>
            <a:r>
              <a:rPr lang="en-GB" dirty="0"/>
              <a:t>May require us to scale LS server hardware to handle database needs or traffic growth overtime (vs. scaling on TPS by up/downgrading the subscription);</a:t>
            </a:r>
          </a:p>
          <a:p>
            <a:pPr lvl="1">
              <a:buFont typeface="Aptos" panose="020B0004020202020204" pitchFamily="34" charset="0"/>
              <a:buChar char="-"/>
            </a:pPr>
            <a:r>
              <a:rPr lang="en-GB" dirty="0"/>
              <a:t>Higher human cost overtime (developers will need to micromanage every aspect of hardware, networking, backups, monitoring, and security).</a:t>
            </a:r>
          </a:p>
          <a:p>
            <a:pPr lvl="1">
              <a:buFont typeface="Aptos" panose="020B0004020202020204" pitchFamily="34" charset="0"/>
              <a:buChar char="+"/>
            </a:pPr>
            <a:endParaRPr lang="en-GB" dirty="0"/>
          </a:p>
          <a:p>
            <a:pPr lvl="1">
              <a:buFont typeface="Aptos" panose="020B0004020202020204" pitchFamily="34" charset="0"/>
              <a:buChar char="+"/>
            </a:pPr>
            <a:endParaRPr lang="en-GB" dirty="0"/>
          </a:p>
          <a:p>
            <a:pPr lvl="1">
              <a:buFont typeface="Aptos" panose="020B0004020202020204" pitchFamily="34" charset="0"/>
              <a:buChar char="+"/>
            </a:pPr>
            <a:endParaRPr lang="en-GB" dirty="0"/>
          </a:p>
          <a:p>
            <a:pPr lvl="1">
              <a:buFont typeface="Aptos" panose="020B0004020202020204" pitchFamily="34" charset="0"/>
              <a:buChar char="+"/>
            </a:pPr>
            <a:endParaRPr lang="en-GB" dirty="0"/>
          </a:p>
          <a:p>
            <a:pPr lvl="1">
              <a:buFont typeface="Aptos" panose="020B0004020202020204" pitchFamily="34" charset="0"/>
              <a:buChar char="+"/>
            </a:pPr>
            <a:endParaRPr lang="en-GB" dirty="0"/>
          </a:p>
          <a:p>
            <a:pPr lvl="1">
              <a:buFont typeface="Aptos" panose="020B0004020202020204" pitchFamily="34" charset="0"/>
              <a:buChar char="-"/>
            </a:pPr>
            <a:endParaRPr lang="en-GB" dirty="0"/>
          </a:p>
          <a:p>
            <a:pPr lvl="1"/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08560-66F9-6974-DF35-E4B7062E9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04A1-4602-4A0B-BBD0-056EBC64DCC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554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loud 5">
            <a:extLst>
              <a:ext uri="{FF2B5EF4-FFF2-40B4-BE49-F238E27FC236}">
                <a16:creationId xmlns:a16="http://schemas.microsoft.com/office/drawing/2014/main" id="{AE035AF9-B9F0-FBBB-B85C-B04BB7949986}"/>
              </a:ext>
            </a:extLst>
          </p:cNvPr>
          <p:cNvSpPr/>
          <p:nvPr/>
        </p:nvSpPr>
        <p:spPr>
          <a:xfrm>
            <a:off x="8817429" y="134956"/>
            <a:ext cx="3156858" cy="1885115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DD8B9-4C01-3127-D375-6729F1C9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LusoSpace</a:t>
            </a:r>
            <a:r>
              <a:rPr lang="en-GB" dirty="0"/>
              <a:t> GS Server – In-House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64002-6889-D031-F32E-4D74B9177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Hybrid approaches may also be possible:</a:t>
            </a:r>
          </a:p>
          <a:p>
            <a:pPr lvl="1"/>
            <a:r>
              <a:rPr lang="en-GB" dirty="0"/>
              <a:t>Database in TPS (data redundancy is assured);</a:t>
            </a:r>
          </a:p>
          <a:p>
            <a:pPr lvl="1"/>
            <a:r>
              <a:rPr lang="en-GB" dirty="0"/>
              <a:t>API in-house (system availability will still be tied to LS server).</a:t>
            </a:r>
          </a:p>
          <a:p>
            <a:pPr lvl="1">
              <a:buFont typeface="Aptos" panose="020B0004020202020204" pitchFamily="34" charset="0"/>
              <a:buChar char="+"/>
            </a:pPr>
            <a:endParaRPr lang="en-GB" dirty="0"/>
          </a:p>
          <a:p>
            <a:pPr lvl="1">
              <a:buFont typeface="Aptos" panose="020B0004020202020204" pitchFamily="34" charset="0"/>
              <a:buChar char="+"/>
            </a:pPr>
            <a:endParaRPr lang="en-GB" dirty="0"/>
          </a:p>
          <a:p>
            <a:pPr lvl="1">
              <a:buFont typeface="Aptos" panose="020B0004020202020204" pitchFamily="34" charset="0"/>
              <a:buChar char="+"/>
            </a:pPr>
            <a:endParaRPr lang="en-GB" dirty="0"/>
          </a:p>
          <a:p>
            <a:pPr lvl="1">
              <a:buFont typeface="Aptos" panose="020B0004020202020204" pitchFamily="34" charset="0"/>
              <a:buChar char="+"/>
            </a:pPr>
            <a:endParaRPr lang="en-GB" dirty="0"/>
          </a:p>
          <a:p>
            <a:pPr lvl="1">
              <a:buFont typeface="Aptos" panose="020B0004020202020204" pitchFamily="34" charset="0"/>
              <a:buChar char="-"/>
            </a:pPr>
            <a:endParaRPr lang="en-GB" dirty="0"/>
          </a:p>
          <a:p>
            <a:pPr lvl="1"/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08560-66F9-6974-DF35-E4B7062E9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04A1-4602-4A0B-BBD0-056EBC64DCC8}" type="slidenum">
              <a:rPr lang="en-GB" smtClean="0"/>
              <a:t>12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8DB05B-8865-5CFD-5C6C-B2E33D261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282207"/>
              </p:ext>
            </p:extLst>
          </p:nvPr>
        </p:nvGraphicFramePr>
        <p:xfrm>
          <a:off x="838200" y="3101665"/>
          <a:ext cx="10515600" cy="3323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0136256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904878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18870989"/>
                    </a:ext>
                  </a:extLst>
                </a:gridCol>
              </a:tblGrid>
              <a:tr h="58036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In-House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78649"/>
                  </a:ext>
                </a:extLst>
              </a:tr>
              <a:tr h="61760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Data redundancy covered.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Developers must ensure data redundancy.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1526688"/>
                  </a:ext>
                </a:extLst>
              </a:tr>
              <a:tr h="61760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System dependent on TPS availability.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System dependent on LS server availability.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9627194"/>
                  </a:ext>
                </a:extLst>
              </a:tr>
              <a:tr h="141167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In General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Fast &amp; flexible hardware adjustments (allows for upgrade </a:t>
                      </a:r>
                      <a:r>
                        <a:rPr lang="en-GB" i="1" dirty="0"/>
                        <a:t>and downgrade</a:t>
                      </a:r>
                      <a:r>
                        <a:rPr lang="en-GB" dirty="0"/>
                        <a:t>).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Subscription-based (higher overtime cost).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Hardware upgrades permanent &amp; up to us (higher upfront cost, lower overtime cost).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Higher overtime human cost for strong system maintenance.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8646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387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457</TotalTime>
  <Words>736</Words>
  <Application>Microsoft Office PowerPoint</Application>
  <PresentationFormat>Widescreen</PresentationFormat>
  <Paragraphs>159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Office Theme</vt:lpstr>
      <vt:lpstr>Architecture Overview</vt:lpstr>
      <vt:lpstr>PowerPoint Presentation</vt:lpstr>
      <vt:lpstr>GS Database</vt:lpstr>
      <vt:lpstr>GS API</vt:lpstr>
      <vt:lpstr>GS Platform</vt:lpstr>
      <vt:lpstr>Connections</vt:lpstr>
      <vt:lpstr>Hosting Options</vt:lpstr>
      <vt:lpstr>LusoSpace GS Server – AWS</vt:lpstr>
      <vt:lpstr>LusoSpace GS Server – Azure</vt:lpstr>
      <vt:lpstr>LusoSpace GS Server – Digital Ocean</vt:lpstr>
      <vt:lpstr>LusoSpace GS Server – In-House</vt:lpstr>
      <vt:lpstr>LusoSpace GS Server – In-House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Afonso Campos</dc:creator>
  <cp:lastModifiedBy>Afonso Campos</cp:lastModifiedBy>
  <cp:revision>9</cp:revision>
  <dcterms:created xsi:type="dcterms:W3CDTF">2025-11-03T09:48:34Z</dcterms:created>
  <dcterms:modified xsi:type="dcterms:W3CDTF">2025-11-07T11:45:16Z</dcterms:modified>
</cp:coreProperties>
</file>